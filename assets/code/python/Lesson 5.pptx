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01" r:id="rId2"/>
    <p:sldId id="499" r:id="rId3"/>
    <p:sldId id="505" r:id="rId4"/>
    <p:sldId id="500" r:id="rId5"/>
    <p:sldId id="506" r:id="rId6"/>
    <p:sldId id="504" r:id="rId7"/>
    <p:sldId id="507" r:id="rId8"/>
    <p:sldId id="513" r:id="rId9"/>
    <p:sldId id="509" r:id="rId10"/>
    <p:sldId id="511" r:id="rId11"/>
    <p:sldId id="510" r:id="rId12"/>
    <p:sldId id="514" r:id="rId13"/>
    <p:sldId id="515" r:id="rId14"/>
    <p:sldId id="516" r:id="rId15"/>
    <p:sldId id="5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ivakumar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0000CC"/>
    <a:srgbClr val="FFFFC1"/>
    <a:srgbClr val="FF0000"/>
    <a:srgbClr val="FF6600"/>
    <a:srgbClr val="996600"/>
    <a:srgbClr val="EFEBE5"/>
    <a:srgbClr val="000000"/>
    <a:srgbClr val="737000"/>
    <a:srgbClr val="DED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85732" autoAdjust="0"/>
  </p:normalViewPr>
  <p:slideViewPr>
    <p:cSldViewPr snapToGrid="0" showGuides="1">
      <p:cViewPr varScale="1">
        <p:scale>
          <a:sx n="77" d="100"/>
          <a:sy n="77" d="100"/>
        </p:scale>
        <p:origin x="120" y="6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-3144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3/4/2026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3/4/2026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2F3A-FEAE-9548-3F7F-C19F82D1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AEE09-3E8D-975C-3CF9-D7C005A43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837EB6-5760-E887-C46D-5C80519F7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77787-C7F3-6D2F-9301-7B85A4C14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F3988-3915-92B3-BBBD-A263DF8B28A5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275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C413-7C1E-A327-84C3-1B484B89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6B575-8104-846A-E3F9-28DB3864C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8DE72-6E50-D43E-5FEB-C19F8B61D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AC296-F5E4-7E65-43DB-BB2A405D7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0E8AA-D6CC-D774-B145-C4FB0ED47637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20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3DE4-7E6B-5CDF-FA06-891C3CCA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190E2-7900-4A53-C503-3A20B0002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039A2-3450-4282-E19C-9507C6D51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F375C-D903-A023-37FA-4CCBC8AD9B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FFA1E-4F01-8761-0C8F-8252FB573014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181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0B86-24AE-8271-86AA-8089C2727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7D40C-6DC5-4456-21E2-F82A7767A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3AA23-EA3C-787B-2CCF-C4108BD2D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E8B69-EF33-C9DB-C68F-2D446D631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F86F3-AA4D-EC90-756E-5219B1A5558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418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C7DA-A72B-F0AE-EFEC-9692AD80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39AA4-42F3-5B72-7AED-21270EC7E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045C2-67DB-6695-C41A-2B68E7A50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0FCA6-0AD7-EF18-E2B2-A6C1958A9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3CBD2-517E-B273-B968-01004B1BD1C3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504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0CC0-6692-6BD4-8856-BC0241C7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2C9CE-ABCD-0579-15DF-4163B8B88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D9875-9E3A-53CD-3AB1-A13CD2A9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CCB6E-A36D-905B-924C-C38E095D7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90CE3-C9DB-6C5B-2149-837FCDABE839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600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9C49-9D0F-346F-52B6-29E90B5D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B814B-4D95-E214-2357-5AD0DA650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C4928-BBF3-0DE9-0BF1-1EB981C73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1B723-8343-CBCE-C966-29E91B967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B00B2-B70B-6B4C-5293-2DF668FC6E6D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55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862F-E016-4CDF-629B-1BDF1540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6B177-A196-7F17-0C2C-A48B1145B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08A41-8CBC-B0F5-6D87-F21B75308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67D59-2313-0E98-7F2B-B8AC9733C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FD5AE-110A-40E5-33EB-EAF0276BEAF8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7226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58B2A-096E-97A1-BB88-2B3E5F0C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159B9-0036-4468-06F7-06F51B936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1FC6C-768E-3AB3-FCF9-1FF6F691E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94394-A8E5-1486-5D29-3FBFF86669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661C7-647A-D598-D7F9-CC8EC856AA82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650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8BF8-9437-3EBF-8DA3-F3A4ECC5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090DF-4757-60F5-9E68-1E3757436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D6FF1-0D6D-99E4-A3BA-A78FB029D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9158-D0DF-A1B0-A742-092A5B926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2321E-1BB7-1474-83A1-E4727726F28A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7426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8192-84B4-8932-02A3-8A58CE36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FB7D9-DE22-8A79-8CE3-619EB7917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98A4F-80E2-8BBA-9332-3443043A6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C30FB-197D-7076-4249-D59A32700B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BAF7-F595-A546-2D85-4080A6270781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826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2B579-CC39-F788-06A6-07CC2D4F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C487B-97E0-CF92-0EEB-33BF0E7F0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427DB-B418-50F6-8A4B-1C0517D2E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08E7B-C7DC-A5DD-9683-6A18291082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270FF-033B-D350-8FBF-3C1D13C54D7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623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0534A-BE3E-7714-5C02-C47C16493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EDC0C-11A5-5413-B777-6141206CA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E3B79-A523-D398-AB52-38FB49F50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2028-5229-F344-29B9-230271514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73D54-721A-6069-1021-C93F4A906AF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532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B669-BE85-2740-C9E3-A7DE8069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5C99A-58EE-AE5B-DC22-63D151718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5914C-CAAD-655B-CD85-44B41705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C23CD-1BF4-0B65-E24A-5AC425EE5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73A6C-9B16-DB16-7C85-1BE2B063B4A3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39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887C-0E51-A282-C9A0-0A895CAD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C9EAB-D6A1-C97F-E7EA-8774AA1C0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AA32C-4E59-EBB9-71D8-45491CAE8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AFFFA-E2B7-956D-4333-C8FF1AD8F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735C0-8114-BEED-CAB1-792C01C8C238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7B77C8-2583-40D8-B0A0-B0B5EF43B6A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451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6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9" y="4511786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2"/>
            <a:ext cx="12192000" cy="63125"/>
            <a:chOff x="507492" y="1501519"/>
            <a:chExt cx="8129016" cy="63125"/>
          </a:xfrm>
          <a:solidFill>
            <a:schemeClr val="tx1"/>
          </a:solidFill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grpFill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grpFill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2"/>
            <a:ext cx="12192000" cy="63125"/>
            <a:chOff x="507492" y="1501519"/>
            <a:chExt cx="8129016" cy="63125"/>
          </a:xfrm>
          <a:solidFill>
            <a:schemeClr val="tx1"/>
          </a:solidFill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grpFill/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grpFill/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6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6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2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900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2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2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9" y="1600201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201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1" y="365125"/>
            <a:ext cx="1714500" cy="5811838"/>
          </a:xfrm>
        </p:spPr>
        <p:txBody>
          <a:bodyPr vert="eaVert"/>
          <a:lstStyle/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5"/>
            <a:ext cx="5632704" cy="84402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8890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244600"/>
            <a:ext cx="9982201" cy="492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901" y="6356353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November 6, 2014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3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FF54DE5-C571-48E8-A5BC-B369434E2F44}" type="slidenum">
              <a:rPr/>
              <a:pPr/>
              <a:t>‹#›</a:t>
            </a:fld>
            <a:endParaRPr dirty="0"/>
          </a:p>
        </p:txBody>
      </p:sp>
      <p:grpSp>
        <p:nvGrpSpPr>
          <p:cNvPr id="15" name="Group 14"/>
          <p:cNvGrpSpPr/>
          <p:nvPr/>
        </p:nvGrpSpPr>
        <p:grpSpPr>
          <a:xfrm>
            <a:off x="1103375" y="1016003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C8662-ED34-D8E8-49F7-C96C5C28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38244B2-B12F-CBBB-6AC7-411FD9CA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Summary of Lesson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CC556-9E2F-B474-53FC-7AFB9860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61718210-425E-6BBA-2248-D90D3317CF2C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10886734" cy="54757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Circle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patches.Circle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radius=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=“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patches.Rectangle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width=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height 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=“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", angle=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degree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Ellipse (Oval)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patches.Ellipse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width=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height=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="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“, angle=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degree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Regular Polygon 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patches.RegularPolygon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((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Xp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Yp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numVertices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radius=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facecolor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="</a:t>
            </a:r>
            <a:r>
              <a:rPr lang="en-US" dirty="0" err="1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colorname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“, angle =</a:t>
            </a:r>
            <a:r>
              <a:rPr lang="en-US" dirty="0">
                <a:solidFill>
                  <a:srgbClr val="0000CC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degree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A261C487-1032-D299-6D8A-3D68E509C7DB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AutoShape 2" descr=", AI generated">
            <a:extLst>
              <a:ext uri="{FF2B5EF4-FFF2-40B4-BE49-F238E27FC236}">
                <a16:creationId xmlns:a16="http://schemas.microsoft.com/office/drawing/2014/main" id="{FD160940-FA28-00E6-5E01-F0D246FAB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50AA1C-561F-6491-4F4A-1E750FEF8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804" y="306857"/>
            <a:ext cx="3730709" cy="296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2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C8B5F-388E-A5DD-FFE6-3D750CD4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37BD93C-7B9C-E819-D70E-BE5336FF1D67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10886734" cy="5523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range(start, stop, step):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matters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instructions inside the loop must be indented.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Ending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indenting to exit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next line aligned to the left is outside the loop.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range(start, stop, step)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numbers (integer) from start to stop, incrementing by step.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C3A95D-523F-923A-5E29-5E00070F86F6}"/>
              </a:ext>
            </a:extLst>
          </p:cNvPr>
          <p:cNvSpPr/>
          <p:nvPr/>
        </p:nvSpPr>
        <p:spPr>
          <a:xfrm>
            <a:off x="1636644" y="1530627"/>
            <a:ext cx="3028122" cy="1371600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2EF09C4-8840-167A-EDF8-9BC6E168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Single for loop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D47AF-C646-18DB-55BA-FE3F9E5B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603DFF87-5C4A-CF7E-2CCB-7FCED0E6D5CE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363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CC512-BB80-D311-C1E6-77EFE5E8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4E3EC6DD-26B1-CA03-AD2F-74B5BC351E7B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6809254" cy="142338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range(2, 11, 2):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4F252-C5F3-2475-D217-CC44B880BB8E}"/>
              </a:ext>
            </a:extLst>
          </p:cNvPr>
          <p:cNvSpPr/>
          <p:nvPr/>
        </p:nvSpPr>
        <p:spPr>
          <a:xfrm>
            <a:off x="1636644" y="1530627"/>
            <a:ext cx="2006208" cy="711128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A831B3B-66A7-E34D-83E8-AFD7701D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Example of Single for loop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8694BE-893F-25C8-64BA-E8DFBC18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6724D2B-E339-1E46-C34E-3A6B8DF998D2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28CA82A0-D576-B1E4-6F99-6C27F6BFA423}"/>
              </a:ext>
            </a:extLst>
          </p:cNvPr>
          <p:cNvSpPr txBox="1">
            <a:spLocks/>
          </p:cNvSpPr>
          <p:nvPr/>
        </p:nvSpPr>
        <p:spPr>
          <a:xfrm>
            <a:off x="620487" y="3255716"/>
            <a:ext cx="6678112" cy="307504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2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4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6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8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10</a:t>
            </a:r>
          </a:p>
        </p:txBody>
      </p:sp>
    </p:spTree>
    <p:extLst>
      <p:ext uri="{BB962C8B-B14F-4D97-AF65-F5344CB8AC3E}">
        <p14:creationId xmlns:p14="http://schemas.microsoft.com/office/powerpoint/2010/main" val="223154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04F15-F50D-1C9D-98C6-1192682C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B70C7481-7FDA-E2E9-08AE-2EA502EAB9AC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10886734" cy="5523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Indentation matters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instructions inside the loop must be indented.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Ending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indenting to exit the loop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next line aligned to the left is outside the loop.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range(start, stop, step)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numbers (integer) from start to stop, incrementing by step.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7630A-A361-CDF9-1D62-6BCFA6D3680F}"/>
              </a:ext>
            </a:extLst>
          </p:cNvPr>
          <p:cNvSpPr/>
          <p:nvPr/>
        </p:nvSpPr>
        <p:spPr>
          <a:xfrm>
            <a:off x="1706990" y="1652368"/>
            <a:ext cx="4921633" cy="2802835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ABEDD1C-FEAE-288F-E9F0-58A7DEC7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Nested for loops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DA450-A3E7-5422-5C8B-4D56B827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D2012F-97D4-9C1F-6F86-1844E6AB8584}"/>
              </a:ext>
            </a:extLst>
          </p:cNvPr>
          <p:cNvSpPr/>
          <p:nvPr/>
        </p:nvSpPr>
        <p:spPr>
          <a:xfrm>
            <a:off x="2623929" y="3246783"/>
            <a:ext cx="3087757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50CA9DA1-F4C4-EDCD-00E6-93240358045F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19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62E4D-5815-C7FA-CBD7-CFDEA0F2D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74C87CC8-CE88-2B81-1208-B3CD46514754}"/>
              </a:ext>
            </a:extLst>
          </p:cNvPr>
          <p:cNvSpPr txBox="1">
            <a:spLocks/>
          </p:cNvSpPr>
          <p:nvPr/>
        </p:nvSpPr>
        <p:spPr>
          <a:xfrm>
            <a:off x="815662" y="1172334"/>
            <a:ext cx="5924351" cy="261800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range(1, 4,1):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(8, 6, -1):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print(j)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A509B-F5E0-6124-8A1B-4AFB79D03C74}"/>
              </a:ext>
            </a:extLst>
          </p:cNvPr>
          <p:cNvSpPr/>
          <p:nvPr/>
        </p:nvSpPr>
        <p:spPr>
          <a:xfrm>
            <a:off x="1706990" y="1652368"/>
            <a:ext cx="4921633" cy="1776631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4EA9BDC-5133-EAD5-57EA-8C8FAEB0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Example of Nested for loops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87BE49-4210-EFC0-E939-1ADE6800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EE36A7-EE41-AF49-7670-2ACABD9C666A}"/>
              </a:ext>
            </a:extLst>
          </p:cNvPr>
          <p:cNvSpPr/>
          <p:nvPr/>
        </p:nvSpPr>
        <p:spPr>
          <a:xfrm>
            <a:off x="2352426" y="2642573"/>
            <a:ext cx="4276197" cy="786426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3D5F9E49-A770-0F4C-5B92-15B3BC599AD8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B6D8E-4516-992B-8678-2603929E6CE4}"/>
              </a:ext>
            </a:extLst>
          </p:cNvPr>
          <p:cNvSpPr/>
          <p:nvPr/>
        </p:nvSpPr>
        <p:spPr>
          <a:xfrm>
            <a:off x="8063343" y="2263898"/>
            <a:ext cx="667704" cy="907005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1CA78238-42E8-7F48-F41E-07FFD1FA61C4}"/>
              </a:ext>
            </a:extLst>
          </p:cNvPr>
          <p:cNvSpPr txBox="1">
            <a:spLocks/>
          </p:cNvSpPr>
          <p:nvPr/>
        </p:nvSpPr>
        <p:spPr>
          <a:xfrm>
            <a:off x="7314534" y="1334450"/>
            <a:ext cx="4061804" cy="511059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1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8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7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2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8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7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3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8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368CF-248D-4C17-003E-0CB86144E5AB}"/>
              </a:ext>
            </a:extLst>
          </p:cNvPr>
          <p:cNvSpPr/>
          <p:nvPr/>
        </p:nvSpPr>
        <p:spPr>
          <a:xfrm>
            <a:off x="8063343" y="3642721"/>
            <a:ext cx="667704" cy="907005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762E4-FE75-14D3-E0DC-D3FE3C248112}"/>
              </a:ext>
            </a:extLst>
          </p:cNvPr>
          <p:cNvSpPr/>
          <p:nvPr/>
        </p:nvSpPr>
        <p:spPr>
          <a:xfrm>
            <a:off x="8063343" y="4963921"/>
            <a:ext cx="667704" cy="907005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BCF7EE-A5D0-4D87-7880-4DFDB9F46939}"/>
              </a:ext>
            </a:extLst>
          </p:cNvPr>
          <p:cNvSpPr/>
          <p:nvPr/>
        </p:nvSpPr>
        <p:spPr>
          <a:xfrm>
            <a:off x="7832463" y="1894079"/>
            <a:ext cx="1134556" cy="3976847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23967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980F4-F364-E0C0-AEDA-9B21518F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3D04C40A-26AA-7D0D-51E5-A065DED1641F}"/>
              </a:ext>
            </a:extLst>
          </p:cNvPr>
          <p:cNvSpPr txBox="1">
            <a:spLocks/>
          </p:cNvSpPr>
          <p:nvPr/>
        </p:nvSpPr>
        <p:spPr>
          <a:xfrm>
            <a:off x="359585" y="1189782"/>
            <a:ext cx="5949451" cy="357394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b="1" u="sng" dirty="0">
              <a:solidFill>
                <a:srgbClr val="7030A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BB2FB-3EA7-2DAA-EA7D-6D448D068327}"/>
              </a:ext>
            </a:extLst>
          </p:cNvPr>
          <p:cNvSpPr/>
          <p:nvPr/>
        </p:nvSpPr>
        <p:spPr>
          <a:xfrm>
            <a:off x="1163046" y="1599237"/>
            <a:ext cx="4895521" cy="3038183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88354DA-C64E-0BFA-DFA2-C5D0F753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Nested for </a:t>
            </a:r>
            <a:r>
              <a:rPr lang="en-US" sz="3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loops vs Sequential for loops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F1CC5-CE7B-D5D7-C177-4D52A880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026387-C4D9-3B32-EBAE-89D08677E939}"/>
              </a:ext>
            </a:extLst>
          </p:cNvPr>
          <p:cNvSpPr/>
          <p:nvPr/>
        </p:nvSpPr>
        <p:spPr>
          <a:xfrm>
            <a:off x="2247722" y="3375992"/>
            <a:ext cx="3087757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37BAF0FB-F5F2-FFBA-04D8-D133729CBC5D}"/>
              </a:ext>
            </a:extLst>
          </p:cNvPr>
          <p:cNvSpPr txBox="1">
            <a:spLocks/>
          </p:cNvSpPr>
          <p:nvPr/>
        </p:nvSpPr>
        <p:spPr>
          <a:xfrm>
            <a:off x="6690184" y="1281063"/>
            <a:ext cx="5015292" cy="416985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range(start-1, stop-1, step-1):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endParaRPr lang="en-US" sz="24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 (start-2, stop-2, step-2):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6F97D7-6025-3BF2-B9F7-7E9FE3634623}"/>
              </a:ext>
            </a:extLst>
          </p:cNvPr>
          <p:cNvSpPr/>
          <p:nvPr/>
        </p:nvSpPr>
        <p:spPr>
          <a:xfrm>
            <a:off x="7254406" y="1667449"/>
            <a:ext cx="3737114" cy="1401418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28CB1-90F7-973F-B34E-DC5A5ACF1D82}"/>
              </a:ext>
            </a:extLst>
          </p:cNvPr>
          <p:cNvSpPr/>
          <p:nvPr/>
        </p:nvSpPr>
        <p:spPr>
          <a:xfrm>
            <a:off x="7291840" y="3982131"/>
            <a:ext cx="3737114" cy="1208420"/>
          </a:xfrm>
          <a:prstGeom prst="rect">
            <a:avLst/>
          </a:prstGeom>
          <a:solidFill>
            <a:srgbClr val="FF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E6F9F5-C8FB-D8F1-9948-14401732759A}"/>
              </a:ext>
            </a:extLst>
          </p:cNvPr>
          <p:cNvSpPr/>
          <p:nvPr/>
        </p:nvSpPr>
        <p:spPr>
          <a:xfrm>
            <a:off x="264192" y="1228055"/>
            <a:ext cx="5949451" cy="3683158"/>
          </a:xfrm>
          <a:prstGeom prst="rect">
            <a:avLst/>
          </a:prstGeom>
          <a:noFill/>
          <a:ln cmpd="thickThin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60C3AE-D6BC-737A-FA35-33A64C005243}"/>
              </a:ext>
            </a:extLst>
          </p:cNvPr>
          <p:cNvSpPr/>
          <p:nvPr/>
        </p:nvSpPr>
        <p:spPr>
          <a:xfrm>
            <a:off x="6496318" y="1228055"/>
            <a:ext cx="5015292" cy="4169855"/>
          </a:xfrm>
          <a:prstGeom prst="rect">
            <a:avLst/>
          </a:prstGeom>
          <a:noFill/>
          <a:ln w="44450" cmpd="thinThick">
            <a:solidFill>
              <a:srgbClr val="66003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727968E7-E705-8C0F-74D5-D3B0EEA1AD46}"/>
              </a:ext>
            </a:extLst>
          </p:cNvPr>
          <p:cNvSpPr txBox="1">
            <a:spLocks/>
          </p:cNvSpPr>
          <p:nvPr/>
        </p:nvSpPr>
        <p:spPr>
          <a:xfrm>
            <a:off x="226031" y="5134911"/>
            <a:ext cx="5949451" cy="165044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en-US" sz="2400" b="1" u="sng" dirty="0">
                <a:solidFill>
                  <a:srgbClr val="7030A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Nested for loops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runs one loop inside another loop. Inner loop repeats every time the outer loop runs once. </a:t>
            </a:r>
          </a:p>
        </p:txBody>
      </p:sp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467EC8F1-9623-8857-FE20-3242DF1273D4}"/>
              </a:ext>
            </a:extLst>
          </p:cNvPr>
          <p:cNvSpPr txBox="1">
            <a:spLocks/>
          </p:cNvSpPr>
          <p:nvPr/>
        </p:nvSpPr>
        <p:spPr>
          <a:xfrm>
            <a:off x="6446125" y="5541975"/>
            <a:ext cx="5015292" cy="97134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sng" dirty="0">
                <a:solidFill>
                  <a:srgbClr val="7030A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Sequential for loops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run one after another. </a:t>
            </a:r>
          </a:p>
        </p:txBody>
      </p:sp>
    </p:spTree>
    <p:extLst>
      <p:ext uri="{BB962C8B-B14F-4D97-AF65-F5344CB8AC3E}">
        <p14:creationId xmlns:p14="http://schemas.microsoft.com/office/powerpoint/2010/main" val="188446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2C17C-9BD0-668B-2C06-74F72FE9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5DEA7FB8-774F-0001-75CA-1081582DF9E8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885792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is an expression that evaluates to True or False.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colon : is required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indented block runs only if the condition is True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Conditions use comparison operators:&gt;, &lt;, &gt;=, &lt;=, ==, !=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D189E4-BE2C-B5FA-A206-321093E47337}"/>
              </a:ext>
            </a:extLst>
          </p:cNvPr>
          <p:cNvSpPr/>
          <p:nvPr/>
        </p:nvSpPr>
        <p:spPr>
          <a:xfrm>
            <a:off x="1706990" y="1652368"/>
            <a:ext cx="2363565" cy="1208421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1A69557-A4C5-E96C-C544-73D5A6E11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If Condition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F8DA7-4CD4-649F-072F-D9F3DE12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8D16419C-8B60-CB91-7150-FEE2EFA2A2EA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71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F69B85-B85A-5D30-8434-FA5128B9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3599B386-8A18-A77D-02FF-41EEF31528E6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489552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x &gt; 5 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print(x)</a:t>
            </a:r>
          </a:p>
          <a:p>
            <a:pPr marL="0" indent="0">
              <a:buNone/>
            </a:pPr>
            <a:endParaRPr lang="en-US" sz="2400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x &lt; 5 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print(x)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7E063A-F5DA-E48B-8512-42CD4A31C036}"/>
              </a:ext>
            </a:extLst>
          </p:cNvPr>
          <p:cNvSpPr/>
          <p:nvPr/>
        </p:nvSpPr>
        <p:spPr>
          <a:xfrm>
            <a:off x="1839726" y="2227555"/>
            <a:ext cx="2363565" cy="751619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E259A3A-A956-1B34-63C8-40582524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Example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89408-2093-B23E-5F2C-F8355A6B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C59344C6-E563-4899-8E5A-2B924BBE6E96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8CEAE1BA-02B4-3E13-BB39-663861BCFFD1}"/>
              </a:ext>
            </a:extLst>
          </p:cNvPr>
          <p:cNvSpPr txBox="1">
            <a:spLocks/>
          </p:cNvSpPr>
          <p:nvPr/>
        </p:nvSpPr>
        <p:spPr>
          <a:xfrm>
            <a:off x="6518787" y="1101772"/>
            <a:ext cx="472351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10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9A4F31-13FD-6407-D082-EA0F6C1AF6F3}"/>
              </a:ext>
            </a:extLst>
          </p:cNvPr>
          <p:cNvSpPr/>
          <p:nvPr/>
        </p:nvSpPr>
        <p:spPr>
          <a:xfrm>
            <a:off x="1839725" y="5173420"/>
            <a:ext cx="2363565" cy="751619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5646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2B051-07EF-D173-3CA7-32C31F80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4B65C6E7-3D37-95D6-4BB6-0EA163FB9C15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979104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condition is False, the else block runs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73774-B619-F718-C75E-27C51F67466C}"/>
              </a:ext>
            </a:extLst>
          </p:cNvPr>
          <p:cNvSpPr/>
          <p:nvPr/>
        </p:nvSpPr>
        <p:spPr>
          <a:xfrm>
            <a:off x="1706990" y="1652369"/>
            <a:ext cx="2363565" cy="854858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7C8C622-BB6E-5435-DCD7-B00184B5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If-else Condition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1005B7-0B2E-00E5-27C1-1E82252F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3D608596-C6C4-E991-F730-F916605C6D8A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9DF38F-C53E-D074-E3C2-71E226009EEF}"/>
              </a:ext>
            </a:extLst>
          </p:cNvPr>
          <p:cNvSpPr/>
          <p:nvPr/>
        </p:nvSpPr>
        <p:spPr>
          <a:xfrm>
            <a:off x="1706989" y="2824790"/>
            <a:ext cx="2363565" cy="854858"/>
          </a:xfrm>
          <a:prstGeom prst="rect">
            <a:avLst/>
          </a:prstGeom>
          <a:solidFill>
            <a:srgbClr val="FF000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35636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DA0F6-AC1D-8BB9-1F10-24CAA456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6CA4507D-42D1-A68F-DA76-F6F8EA39910A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489552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4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x &gt; 5 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print(“x is greater than 5”)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print(“x is less than 5”)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AF5B94-118D-0F15-989E-6F9B2ACA0924}"/>
              </a:ext>
            </a:extLst>
          </p:cNvPr>
          <p:cNvSpPr/>
          <p:nvPr/>
        </p:nvSpPr>
        <p:spPr>
          <a:xfrm>
            <a:off x="1839726" y="2227555"/>
            <a:ext cx="3661422" cy="751619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D366C99-2E1D-5386-30F6-15C848C0D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Example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436A13-75F9-7F6D-34C0-0243B796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5C07AF8-B254-1826-7B08-0D1A4D5E0AEC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6C08777C-59C5-5EEE-67FB-CDA0016D498F}"/>
              </a:ext>
            </a:extLst>
          </p:cNvPr>
          <p:cNvSpPr txBox="1">
            <a:spLocks/>
          </p:cNvSpPr>
          <p:nvPr/>
        </p:nvSpPr>
        <p:spPr>
          <a:xfrm>
            <a:off x="6518787" y="1101772"/>
            <a:ext cx="472351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x is less than 5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E1453-CD6E-437B-CB7C-A3A2967EAC20}"/>
              </a:ext>
            </a:extLst>
          </p:cNvPr>
          <p:cNvSpPr/>
          <p:nvPr/>
        </p:nvSpPr>
        <p:spPr>
          <a:xfrm>
            <a:off x="1839726" y="3429000"/>
            <a:ext cx="3661422" cy="751619"/>
          </a:xfrm>
          <a:prstGeom prst="rect">
            <a:avLst/>
          </a:prstGeom>
          <a:solidFill>
            <a:srgbClr val="FF000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00096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DD424-4327-F6EC-86E6-EDA8FA8F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0D4F3444-973E-A464-DCE1-13340033B9E1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979104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condition1 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instruction_1</a:t>
            </a:r>
          </a:p>
          <a:p>
            <a:pPr marL="0" indent="0">
              <a:buNone/>
            </a:pP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consition2: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instruction_2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instruction_3</a:t>
            </a:r>
          </a:p>
          <a:p>
            <a:pPr marL="0" indent="0">
              <a:buNone/>
            </a:pPr>
            <a:endParaRPr lang="en-US" sz="2400" b="1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if condition is False, Python checks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is also False, the else block executes.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2ACC35-B215-2BF9-D14E-3ECDB5B9FDE5}"/>
              </a:ext>
            </a:extLst>
          </p:cNvPr>
          <p:cNvSpPr/>
          <p:nvPr/>
        </p:nvSpPr>
        <p:spPr>
          <a:xfrm>
            <a:off x="1706990" y="1652368"/>
            <a:ext cx="2363565" cy="751619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754878B-480A-E1CE-131B-C308E33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If-</a:t>
            </a:r>
            <a:r>
              <a:rPr lang="en-US" sz="3600" dirty="0" err="1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elif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-else Condition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08F20B-451E-3284-78C9-2A8EE444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347EC14B-BE70-AEAB-771F-80785D051A7C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518E54-098E-D365-6482-A7741FFEF6B4}"/>
              </a:ext>
            </a:extLst>
          </p:cNvPr>
          <p:cNvSpPr/>
          <p:nvPr/>
        </p:nvSpPr>
        <p:spPr>
          <a:xfrm>
            <a:off x="1706990" y="2824789"/>
            <a:ext cx="2363565" cy="751619"/>
          </a:xfrm>
          <a:prstGeom prst="rect">
            <a:avLst/>
          </a:prstGeom>
          <a:solidFill>
            <a:srgbClr val="00B05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5D7AA3-8DA1-09D6-7F6A-D986368D2AF8}"/>
              </a:ext>
            </a:extLst>
          </p:cNvPr>
          <p:cNvSpPr/>
          <p:nvPr/>
        </p:nvSpPr>
        <p:spPr>
          <a:xfrm>
            <a:off x="1706989" y="3939190"/>
            <a:ext cx="2363565" cy="854858"/>
          </a:xfrm>
          <a:prstGeom prst="rect">
            <a:avLst/>
          </a:prstGeom>
          <a:solidFill>
            <a:srgbClr val="FF000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73447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7E00F-4A29-463F-293F-EC3AA030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35F3B435-6039-FA0E-2655-B8E6691A034E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489552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= 85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score &gt;= 90 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print(“Grade: A”)</a:t>
            </a:r>
          </a:p>
          <a:p>
            <a:pPr marL="0" indent="0">
              <a:buNone/>
            </a:pP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 &gt;= 80: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print(“Grade: B”)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print(“Grade: C”)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71AF9-493A-8F5E-DCE2-D3C658AA5F34}"/>
              </a:ext>
            </a:extLst>
          </p:cNvPr>
          <p:cNvSpPr/>
          <p:nvPr/>
        </p:nvSpPr>
        <p:spPr>
          <a:xfrm>
            <a:off x="1839726" y="2227555"/>
            <a:ext cx="2820764" cy="751619"/>
          </a:xfrm>
          <a:prstGeom prst="rect">
            <a:avLst/>
          </a:prstGeom>
          <a:solidFill>
            <a:srgbClr val="0000CC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C3CFDDC-FE24-4B9A-7C90-0DBC7FF8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Example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D77EA-C967-C36E-5815-7FCD392E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32CDF2E7-303B-482E-335C-7DEE95CF2099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E23155AF-E779-DAA6-1964-892988B06A16}"/>
              </a:ext>
            </a:extLst>
          </p:cNvPr>
          <p:cNvSpPr txBox="1">
            <a:spLocks/>
          </p:cNvSpPr>
          <p:nvPr/>
        </p:nvSpPr>
        <p:spPr>
          <a:xfrm>
            <a:off x="6518787" y="1101772"/>
            <a:ext cx="4723510" cy="261482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Grade: B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21AF9-4B1D-8F7E-B7CC-9ED245BC0657}"/>
              </a:ext>
            </a:extLst>
          </p:cNvPr>
          <p:cNvSpPr/>
          <p:nvPr/>
        </p:nvSpPr>
        <p:spPr>
          <a:xfrm>
            <a:off x="1839726" y="3429000"/>
            <a:ext cx="2820764" cy="751619"/>
          </a:xfrm>
          <a:prstGeom prst="rect">
            <a:avLst/>
          </a:prstGeom>
          <a:solidFill>
            <a:srgbClr val="00B05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A0A38A-1BF4-8793-E335-C5A864CAB95B}"/>
              </a:ext>
            </a:extLst>
          </p:cNvPr>
          <p:cNvSpPr/>
          <p:nvPr/>
        </p:nvSpPr>
        <p:spPr>
          <a:xfrm>
            <a:off x="1839726" y="4630445"/>
            <a:ext cx="2820764" cy="751619"/>
          </a:xfrm>
          <a:prstGeom prst="rect">
            <a:avLst/>
          </a:prstGeom>
          <a:solidFill>
            <a:srgbClr val="FF000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56617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47B0C-F9BB-90BD-DE43-55FF6A77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95ACCBDD-38AB-50AB-51EC-82A5DFE17D37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489552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condition: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 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44483A6-AED9-F966-6008-FB811B6D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While loop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480DCE-0C07-11C2-9671-DBE444A1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618F1EE0-E8A0-DB89-1EAA-5C38FE6D353B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83EF4E-8F72-12D8-4B9C-7D662BBE95E8}"/>
              </a:ext>
            </a:extLst>
          </p:cNvPr>
          <p:cNvSpPr/>
          <p:nvPr/>
        </p:nvSpPr>
        <p:spPr>
          <a:xfrm>
            <a:off x="1990243" y="1746238"/>
            <a:ext cx="2820764" cy="751619"/>
          </a:xfrm>
          <a:prstGeom prst="rect">
            <a:avLst/>
          </a:prstGeom>
          <a:solidFill>
            <a:srgbClr val="FF000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203872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57CA9-6239-EE21-5CD0-B4823FBF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EB9EB94B-F5B8-7B0E-1B6B-418E707FE1BE}"/>
              </a:ext>
            </a:extLst>
          </p:cNvPr>
          <p:cNvSpPr txBox="1">
            <a:spLocks/>
          </p:cNvSpPr>
          <p:nvPr/>
        </p:nvSpPr>
        <p:spPr>
          <a:xfrm>
            <a:off x="1200480" y="1308770"/>
            <a:ext cx="4895520" cy="502199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&lt;10 :  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print(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=i+2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5A0B2FE-51B0-1B97-15E7-2548D7D5D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Example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D5F88-612F-BCE4-8E4A-3DEDE2E9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CF665286-653A-61E8-E38F-767FC6927987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C1A66DCF-9D3C-DEEE-F8EC-483F93D48448}"/>
              </a:ext>
            </a:extLst>
          </p:cNvPr>
          <p:cNvSpPr txBox="1">
            <a:spLocks/>
          </p:cNvSpPr>
          <p:nvPr/>
        </p:nvSpPr>
        <p:spPr>
          <a:xfrm>
            <a:off x="6518787" y="1101772"/>
            <a:ext cx="4723510" cy="347022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2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4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6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	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33011-91D4-E6D3-A4AD-31DAB1C2E270}"/>
              </a:ext>
            </a:extLst>
          </p:cNvPr>
          <p:cNvSpPr/>
          <p:nvPr/>
        </p:nvSpPr>
        <p:spPr>
          <a:xfrm>
            <a:off x="1990243" y="2404997"/>
            <a:ext cx="2631861" cy="1127343"/>
          </a:xfrm>
          <a:prstGeom prst="rect">
            <a:avLst/>
          </a:prstGeom>
          <a:solidFill>
            <a:srgbClr val="FF0000">
              <a:alpha val="10196"/>
            </a:srgb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449146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9B00B-B511-B4A4-1ECB-964BA791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7E9E295-5389-64E8-D513-DD10410F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838" y="157977"/>
            <a:ext cx="9980682" cy="88900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MS Mincho" panose="02020609040205080304" pitchFamily="49" charset="-128"/>
              </a:rPr>
              <a:t>Access Computer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80A045-0007-55CD-C5AD-3316B9E6E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0438" y="6330760"/>
            <a:ext cx="48195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54DE5-C571-48E8-A5BC-B369434E2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>
                    <a:lumMod val="60000"/>
                    <a:lumOff val="40000"/>
                  </a:srgbClr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14843">
                  <a:lumMod val="60000"/>
                  <a:lumOff val="40000"/>
                </a:srgbClr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8FFB029F-A896-00FD-C4E8-D385350B9C62}"/>
              </a:ext>
            </a:extLst>
          </p:cNvPr>
          <p:cNvSpPr txBox="1">
            <a:spLocks/>
          </p:cNvSpPr>
          <p:nvPr/>
        </p:nvSpPr>
        <p:spPr>
          <a:xfrm>
            <a:off x="815662" y="1172333"/>
            <a:ext cx="9746321" cy="5523551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💻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the Computer</a:t>
            </a:r>
          </a:p>
          <a:p>
            <a:pPr marL="914400" lvl="2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.\guest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Password: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Carbondale!</a:t>
            </a:r>
          </a:p>
          <a:p>
            <a:pPr marL="0" indent="0">
              <a:buNone/>
            </a:pP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Launching Python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icon in the bottom menu to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launch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it opens, you are ready to begin coding!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D0F5FDF1-F338-5E68-FE6B-D9E23BF7ACD7}"/>
              </a:ext>
            </a:extLst>
          </p:cNvPr>
          <p:cNvSpPr txBox="1">
            <a:spLocks/>
          </p:cNvSpPr>
          <p:nvPr/>
        </p:nvSpPr>
        <p:spPr>
          <a:xfrm>
            <a:off x="620487" y="1201309"/>
            <a:ext cx="10371033" cy="547576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ks/cbs Datacamp Spark Tutorial ...">
            <a:extLst>
              <a:ext uri="{FF2B5EF4-FFF2-40B4-BE49-F238E27FC236}">
                <a16:creationId xmlns:a16="http://schemas.microsoft.com/office/drawing/2014/main" id="{1E99A8D4-12EE-619D-4947-3389C84AC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277" y="4203649"/>
            <a:ext cx="1862238" cy="100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9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10448</TotalTime>
  <Words>885</Words>
  <Application>Microsoft Office PowerPoint</Application>
  <PresentationFormat>Widescreen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Euphemia</vt:lpstr>
      <vt:lpstr>Plantagenet Cherokee</vt:lpstr>
      <vt:lpstr>Times New Roman</vt:lpstr>
      <vt:lpstr>Wingdings</vt:lpstr>
      <vt:lpstr>Academic Literature 16x9</vt:lpstr>
      <vt:lpstr>Summary of Lesson</vt:lpstr>
      <vt:lpstr>Single for loop</vt:lpstr>
      <vt:lpstr>Example of Single for loop</vt:lpstr>
      <vt:lpstr>Nested for loops</vt:lpstr>
      <vt:lpstr>Example of Nested for loops</vt:lpstr>
      <vt:lpstr>Nested for loops vs Sequential for loops</vt:lpstr>
      <vt:lpstr>If Condition</vt:lpstr>
      <vt:lpstr>Example </vt:lpstr>
      <vt:lpstr>If-else Condition</vt:lpstr>
      <vt:lpstr>Example </vt:lpstr>
      <vt:lpstr>If-elif-else Condition</vt:lpstr>
      <vt:lpstr>Example </vt:lpstr>
      <vt:lpstr>While loop </vt:lpstr>
      <vt:lpstr>Example </vt:lpstr>
      <vt:lpstr>Access Computer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kumar</dc:creator>
  <cp:lastModifiedBy>Poopalasingam Sivakumar</cp:lastModifiedBy>
  <cp:revision>1142</cp:revision>
  <dcterms:created xsi:type="dcterms:W3CDTF">2014-04-17T22:28:38Z</dcterms:created>
  <dcterms:modified xsi:type="dcterms:W3CDTF">2026-03-04T19:41:45Z</dcterms:modified>
</cp:coreProperties>
</file>