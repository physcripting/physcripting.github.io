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501" r:id="rId2"/>
    <p:sldId id="499" r:id="rId3"/>
    <p:sldId id="500" r:id="rId4"/>
    <p:sldId id="503" r:id="rId5"/>
    <p:sldId id="504" r:id="rId6"/>
    <p:sldId id="50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ivakumar" initials="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33"/>
    <a:srgbClr val="0000CC"/>
    <a:srgbClr val="FFFFC1"/>
    <a:srgbClr val="FF0000"/>
    <a:srgbClr val="FF6600"/>
    <a:srgbClr val="996600"/>
    <a:srgbClr val="EFEBE5"/>
    <a:srgbClr val="000000"/>
    <a:srgbClr val="737000"/>
    <a:srgbClr val="DEDA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85732" autoAdjust="0"/>
  </p:normalViewPr>
  <p:slideViewPr>
    <p:cSldViewPr snapToGrid="0" showGuides="1">
      <p:cViewPr varScale="1">
        <p:scale>
          <a:sx n="72" d="100"/>
          <a:sy n="72" d="100"/>
        </p:scale>
        <p:origin x="90" y="7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4" d="100"/>
          <a:sy n="64" d="100"/>
        </p:scale>
        <p:origin x="-3144" y="-8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2/18/2026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2/18/2026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2F3A-FEAE-9548-3F7F-C19F82D1A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0AEE09-3E8D-975C-3CF9-D7C005A43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837EB6-5760-E887-C46D-5C80519F7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77787-C7F3-6D2F-9301-7B85A4C147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0F3988-3915-92B3-BBBD-A263DF8B28A5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7B77C8-2583-40D8-B0A0-B0B5EF43B6A0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2/18/2026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2751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AC413-7C1E-A327-84C3-1B484B89D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26B575-8104-846A-E3F9-28DB3864C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08DE72-6E50-D43E-5FEB-C19F8B61D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AC296-F5E4-7E65-43DB-BB2A405D77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0E8AA-D6CC-D774-B145-C4FB0ED47637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7B77C8-2583-40D8-B0A0-B0B5EF43B6A0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2/18/2026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820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C0B86-24AE-8271-86AA-8089C2727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77D40C-6DC5-4456-21E2-F82A7767AF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03AA23-EA3C-787B-2CCF-C4108BD2D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E8B69-EF33-C9DB-C68F-2D446D6315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1F86F3-AA4D-EC90-756E-5219B1A5558E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7B77C8-2583-40D8-B0A0-B0B5EF43B6A0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2/18/2026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5418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FFBC9-CD3D-823B-D466-7B9563CAF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A70A35-AF59-5922-25F4-87292A06F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F5DE8D-4EF0-8453-B18B-55FDCAEB1E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2BC07-E368-1748-5A12-0B5502A9B9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C6626D-EDD6-9334-B166-85B71B2077C4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7B77C8-2583-40D8-B0A0-B0B5EF43B6A0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2/18/2026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2365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10CC0-6692-6BD4-8856-BC0241C7D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D2C9CE-ABCD-0579-15DF-4163B8B88B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2D9875-9E3A-53CD-3AB1-A13CD2A9BA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CCB6E-A36D-905B-924C-C38E095D75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590CE3-C9DB-6C5B-2149-837FCDABE839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7B77C8-2583-40D8-B0A0-B0B5EF43B6A0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2/18/2026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46009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9887C-0E51-A282-C9A0-0A895CADB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C9EAB-D6A1-C97F-E7EA-8774AA1C08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FAA32C-4E59-EBB9-71D8-45491CAE8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AFFFA-E2B7-956D-4333-C8FF1AD8F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735C0-8114-BEED-CAB1-792C01C8C238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7B77C8-2583-40D8-B0A0-B0B5EF43B6A0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2/18/2026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5451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6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9" y="4511786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6, 2014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6, 2014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 rot="10800000">
            <a:off x="0" y="5645512"/>
            <a:ext cx="12192000" cy="63125"/>
            <a:chOff x="507492" y="1501519"/>
            <a:chExt cx="8129016" cy="63125"/>
          </a:xfrm>
          <a:solidFill>
            <a:schemeClr val="tx1"/>
          </a:solidFill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grpFill/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grpFill/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0" y="1143002"/>
            <a:ext cx="12192000" cy="63125"/>
            <a:chOff x="507492" y="1501519"/>
            <a:chExt cx="8129016" cy="63125"/>
          </a:xfrm>
          <a:solidFill>
            <a:schemeClr val="tx1"/>
          </a:solidFill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grpFill/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grpFill/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6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6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2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900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6, 2014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2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2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6, 2014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6, 2014</a:t>
            </a:r>
            <a:endParaRPr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6, 2014</a:t>
            </a:r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6, 2014</a:t>
            </a:r>
            <a:endParaRPr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9" y="1600201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6, 2014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4671" y="1600201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6, 2014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6, 2014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1" y="365125"/>
            <a:ext cx="1714500" cy="5811838"/>
          </a:xfrm>
        </p:spPr>
        <p:txBody>
          <a:bodyPr vert="eaVert"/>
          <a:lstStyle/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6, 2014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 dirty="0"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5"/>
            <a:ext cx="5632704" cy="84402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889000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244600"/>
            <a:ext cx="9982201" cy="49276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  <a:p>
            <a:pPr lvl="5"/>
            <a:r>
              <a:rPr dirty="0"/>
              <a:t>Sixth level</a:t>
            </a:r>
          </a:p>
          <a:p>
            <a:pPr lvl="6"/>
            <a:r>
              <a:rPr dirty="0"/>
              <a:t>Seventh level</a:t>
            </a:r>
          </a:p>
          <a:p>
            <a:pPr lvl="7"/>
            <a:r>
              <a:rPr dirty="0"/>
              <a:t>Eighth level</a:t>
            </a:r>
          </a:p>
          <a:p>
            <a:pPr lvl="8"/>
            <a:r>
              <a:rPr dirty="0"/>
              <a:t>Ninth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901" y="6356353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November 6, 2014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3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0FF54DE5-C571-48E8-A5BC-B369434E2F44}" type="slidenum">
              <a:rPr/>
              <a:pPr/>
              <a:t>‹#›</a:t>
            </a:fld>
            <a:endParaRPr dirty="0"/>
          </a:p>
        </p:txBody>
      </p:sp>
      <p:grpSp>
        <p:nvGrpSpPr>
          <p:cNvPr id="15" name="Group 14"/>
          <p:cNvGrpSpPr/>
          <p:nvPr/>
        </p:nvGrpSpPr>
        <p:grpSpPr>
          <a:xfrm>
            <a:off x="1103375" y="1016003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3C8662-ED34-D8E8-49F7-C96C5C284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38244B2-B12F-CBBB-6AC7-411FD9CA8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838" y="157977"/>
            <a:ext cx="9980682" cy="889000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Summary of Lesson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0CC556-9E2F-B474-53FC-7AFB98602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0438" y="6330760"/>
            <a:ext cx="48195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F54DE5-C571-48E8-A5BC-B369434E2F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>
                    <a:lumMod val="60000"/>
                    <a:lumOff val="40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>
                  <a:lumMod val="60000"/>
                  <a:lumOff val="40000"/>
                </a:srgbClr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61718210-425E-6BBA-2248-D90D3317CF2C}"/>
              </a:ext>
            </a:extLst>
          </p:cNvPr>
          <p:cNvSpPr txBox="1">
            <a:spLocks/>
          </p:cNvSpPr>
          <p:nvPr/>
        </p:nvSpPr>
        <p:spPr>
          <a:xfrm>
            <a:off x="815662" y="1172333"/>
            <a:ext cx="10886734" cy="547576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✅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Circle</a:t>
            </a: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dirty="0" err="1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patches.Circle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((</a:t>
            </a:r>
            <a:r>
              <a:rPr lang="en-US" dirty="0" err="1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Xp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Yp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), radius=</a:t>
            </a:r>
            <a:r>
              <a:rPr lang="en-US" dirty="0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facecolor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=“</a:t>
            </a:r>
            <a:r>
              <a:rPr lang="en-US" dirty="0" err="1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colorname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")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✅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Rectangle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dirty="0" err="1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patches.Rectangle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((</a:t>
            </a:r>
            <a:r>
              <a:rPr lang="en-US" dirty="0" err="1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Xp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Yp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), width=</a:t>
            </a:r>
            <a:r>
              <a:rPr lang="en-US" dirty="0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height =</a:t>
            </a:r>
            <a:r>
              <a:rPr lang="en-US" dirty="0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h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facecolor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=“</a:t>
            </a:r>
            <a:r>
              <a:rPr lang="en-US" dirty="0" err="1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colorname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", angle=</a:t>
            </a:r>
            <a:r>
              <a:rPr lang="en-US" dirty="0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degree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✅ 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Ellipse (Oval)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dirty="0" err="1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patches.Ellipse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((</a:t>
            </a:r>
            <a:r>
              <a:rPr lang="en-US" dirty="0" err="1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Xp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Yp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), width=</a:t>
            </a:r>
            <a:r>
              <a:rPr lang="en-US" dirty="0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height=</a:t>
            </a:r>
            <a:r>
              <a:rPr lang="en-US" dirty="0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h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facecolor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="</a:t>
            </a:r>
            <a:r>
              <a:rPr lang="en-US" dirty="0" err="1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colorname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“, angle=</a:t>
            </a:r>
            <a:r>
              <a:rPr lang="en-US" dirty="0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degree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)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✅ 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Regular Polygon 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dirty="0" err="1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patches.RegularPolygon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((</a:t>
            </a:r>
            <a:r>
              <a:rPr lang="en-US" dirty="0" err="1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Xp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Yp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), </a:t>
            </a:r>
            <a:r>
              <a:rPr lang="en-US" dirty="0" err="1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numVertices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radius=</a:t>
            </a:r>
            <a:r>
              <a:rPr lang="en-US" dirty="0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facecolor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="</a:t>
            </a:r>
            <a:r>
              <a:rPr lang="en-US" dirty="0" err="1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colorname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“, angle =</a:t>
            </a:r>
            <a:r>
              <a:rPr lang="en-US" dirty="0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degree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)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A261C487-1032-D299-6D8A-3D68E509C7DB}"/>
              </a:ext>
            </a:extLst>
          </p:cNvPr>
          <p:cNvSpPr txBox="1">
            <a:spLocks/>
          </p:cNvSpPr>
          <p:nvPr/>
        </p:nvSpPr>
        <p:spPr>
          <a:xfrm>
            <a:off x="620487" y="1201309"/>
            <a:ext cx="10371033" cy="547576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7" name="AutoShape 2" descr=", AI generated">
            <a:extLst>
              <a:ext uri="{FF2B5EF4-FFF2-40B4-BE49-F238E27FC236}">
                <a16:creationId xmlns:a16="http://schemas.microsoft.com/office/drawing/2014/main" id="{FD160940-FA28-00E6-5E01-F0D246FAB6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B50AA1C-561F-6491-4F4A-1E750FEF8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804" y="306857"/>
            <a:ext cx="3730709" cy="296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622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2C8B5F-388E-A5DD-FFE6-3D750CD4F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37BD93C-7B9C-E819-D70E-BE5336FF1D67}"/>
              </a:ext>
            </a:extLst>
          </p:cNvPr>
          <p:cNvSpPr txBox="1">
            <a:spLocks/>
          </p:cNvSpPr>
          <p:nvPr/>
        </p:nvSpPr>
        <p:spPr>
          <a:xfrm>
            <a:off x="815662" y="1172333"/>
            <a:ext cx="10886734" cy="55235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i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range(start, stop, step):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instruction_1 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instruction_2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Notes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Indentation matters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All instructions inside the loop must be indented.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Ending the loop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 indenting to exit the loop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next line aligned to the left is outside the loop.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range(start, stop, step)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numbers (integer) from start to stop, incrementing by step.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C3A95D-523F-923A-5E29-5E00070F86F6}"/>
              </a:ext>
            </a:extLst>
          </p:cNvPr>
          <p:cNvSpPr/>
          <p:nvPr/>
        </p:nvSpPr>
        <p:spPr>
          <a:xfrm>
            <a:off x="1636644" y="1530627"/>
            <a:ext cx="3028122" cy="1371600"/>
          </a:xfrm>
          <a:prstGeom prst="rect">
            <a:avLst/>
          </a:prstGeom>
          <a:solidFill>
            <a:srgbClr val="0000CC">
              <a:alpha val="1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C2EF09C4-8840-167A-EDF8-9BC6E1683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838" y="157977"/>
            <a:ext cx="9980682" cy="889000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Single for loop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7D47AF-C646-18DB-55BA-FE3F9E5B7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0438" y="6330760"/>
            <a:ext cx="48195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F54DE5-C571-48E8-A5BC-B369434E2F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>
                    <a:lumMod val="60000"/>
                    <a:lumOff val="40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>
                  <a:lumMod val="60000"/>
                  <a:lumOff val="40000"/>
                </a:srgbClr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603DFF87-5C4A-CF7E-2CCB-7FCED0E6D5CE}"/>
              </a:ext>
            </a:extLst>
          </p:cNvPr>
          <p:cNvSpPr txBox="1">
            <a:spLocks/>
          </p:cNvSpPr>
          <p:nvPr/>
        </p:nvSpPr>
        <p:spPr>
          <a:xfrm>
            <a:off x="620487" y="1201309"/>
            <a:ext cx="10371033" cy="547576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363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604F15-F50D-1C9D-98C6-1192682C2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B70C7481-7FDA-E2E9-08AE-2EA502EAB9AC}"/>
              </a:ext>
            </a:extLst>
          </p:cNvPr>
          <p:cNvSpPr txBox="1">
            <a:spLocks/>
          </p:cNvSpPr>
          <p:nvPr/>
        </p:nvSpPr>
        <p:spPr>
          <a:xfrm>
            <a:off x="815662" y="1172333"/>
            <a:ext cx="10886734" cy="55235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i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range(start-1, stop-1, step-1): 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instruction_1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instruction_2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j in range (start-2, stop-2, step-2):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instruction_2 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instruction_2</a:t>
            </a:r>
            <a:endParaRPr lang="en-US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Notes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Indentation matters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All instructions inside the loop must be indented.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Ending the loop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 indenting to exit the loop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next line aligned to the left is outside the loop.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range(start, stop, step)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numbers (integer) from start to stop, incrementing by step.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D7630A-A361-CDF9-1D62-6BCFA6D3680F}"/>
              </a:ext>
            </a:extLst>
          </p:cNvPr>
          <p:cNvSpPr/>
          <p:nvPr/>
        </p:nvSpPr>
        <p:spPr>
          <a:xfrm>
            <a:off x="1706990" y="1652368"/>
            <a:ext cx="4921633" cy="2802835"/>
          </a:xfrm>
          <a:prstGeom prst="rect">
            <a:avLst/>
          </a:prstGeom>
          <a:solidFill>
            <a:srgbClr val="0000CC">
              <a:alpha val="1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1ABEDD1C-FEAE-288F-E9F0-58A7DEC7E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838" y="157977"/>
            <a:ext cx="9980682" cy="889000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Nested for loops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ADA450-A3E7-5422-5C8B-4D56B8279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0438" y="6330760"/>
            <a:ext cx="48195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F54DE5-C571-48E8-A5BC-B369434E2F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>
                    <a:lumMod val="60000"/>
                    <a:lumOff val="40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>
                  <a:lumMod val="60000"/>
                  <a:lumOff val="40000"/>
                </a:srgbClr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D2012F-97D4-9C1F-6F86-1844E6AB8584}"/>
              </a:ext>
            </a:extLst>
          </p:cNvPr>
          <p:cNvSpPr/>
          <p:nvPr/>
        </p:nvSpPr>
        <p:spPr>
          <a:xfrm>
            <a:off x="2623929" y="3246783"/>
            <a:ext cx="3087757" cy="1208420"/>
          </a:xfrm>
          <a:prstGeom prst="rect">
            <a:avLst/>
          </a:prstGeom>
          <a:solidFill>
            <a:srgbClr val="FF0000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50CA9DA1-F4C4-EDCD-00E6-93240358045F}"/>
              </a:ext>
            </a:extLst>
          </p:cNvPr>
          <p:cNvSpPr txBox="1">
            <a:spLocks/>
          </p:cNvSpPr>
          <p:nvPr/>
        </p:nvSpPr>
        <p:spPr>
          <a:xfrm>
            <a:off x="620487" y="1201309"/>
            <a:ext cx="10371033" cy="547576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194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4CF06D-02B1-10FC-8897-8F8CAE746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D0696BA2-E5E0-ADDF-7BD3-90F4AD31313B}"/>
              </a:ext>
            </a:extLst>
          </p:cNvPr>
          <p:cNvSpPr txBox="1">
            <a:spLocks/>
          </p:cNvSpPr>
          <p:nvPr/>
        </p:nvSpPr>
        <p:spPr>
          <a:xfrm>
            <a:off x="405529" y="1228055"/>
            <a:ext cx="5949451" cy="393213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i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range(start-1, stop-1, step-1): 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instruction_1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instruction_2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j in range (start-2, stop-2, step-2):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instruction_2 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instruction_2</a:t>
            </a:r>
            <a:endParaRPr lang="en-US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F4585D-D808-3033-52DC-84999E51B959}"/>
              </a:ext>
            </a:extLst>
          </p:cNvPr>
          <p:cNvSpPr/>
          <p:nvPr/>
        </p:nvSpPr>
        <p:spPr>
          <a:xfrm>
            <a:off x="1163046" y="1697812"/>
            <a:ext cx="4895521" cy="3038183"/>
          </a:xfrm>
          <a:prstGeom prst="rect">
            <a:avLst/>
          </a:prstGeom>
          <a:solidFill>
            <a:srgbClr val="0000CC">
              <a:alpha val="1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00ED5E8F-7AC7-D5C0-38A2-C48B0765D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838" y="157977"/>
            <a:ext cx="9980682" cy="889000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ea typeface="MS Mincho" panose="02020609040205080304" pitchFamily="49" charset="-128"/>
              </a:rPr>
              <a:t>Nested for </a:t>
            </a:r>
            <a:r>
              <a:rPr lang="en-US" sz="36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loops vs Sequential for loops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2779C5-D5FD-B75C-A660-E91993226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0438" y="6330760"/>
            <a:ext cx="48195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F54DE5-C571-48E8-A5BC-B369434E2F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>
                    <a:lumMod val="60000"/>
                    <a:lumOff val="40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>
                  <a:lumMod val="60000"/>
                  <a:lumOff val="40000"/>
                </a:srgbClr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993E6C-354B-9A33-3E0F-A5236F9A5C28}"/>
              </a:ext>
            </a:extLst>
          </p:cNvPr>
          <p:cNvSpPr/>
          <p:nvPr/>
        </p:nvSpPr>
        <p:spPr>
          <a:xfrm>
            <a:off x="2247722" y="3375992"/>
            <a:ext cx="3087757" cy="1208420"/>
          </a:xfrm>
          <a:prstGeom prst="rect">
            <a:avLst/>
          </a:prstGeom>
          <a:solidFill>
            <a:srgbClr val="FF0000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13">
            <a:extLst>
              <a:ext uri="{FF2B5EF4-FFF2-40B4-BE49-F238E27FC236}">
                <a16:creationId xmlns:a16="http://schemas.microsoft.com/office/drawing/2014/main" id="{B9BDF71C-14DF-25F7-FCC4-700DDC216D96}"/>
              </a:ext>
            </a:extLst>
          </p:cNvPr>
          <p:cNvSpPr txBox="1">
            <a:spLocks/>
          </p:cNvSpPr>
          <p:nvPr/>
        </p:nvSpPr>
        <p:spPr>
          <a:xfrm>
            <a:off x="6690184" y="1281064"/>
            <a:ext cx="5015292" cy="434888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i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range(start-1, stop-1, step-1): 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instruction_1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instruction_2</a:t>
            </a:r>
          </a:p>
          <a:p>
            <a:pPr marL="0" indent="0">
              <a:buNone/>
            </a:pPr>
            <a:endParaRPr lang="en-US" sz="2400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j in range (start-2, stop-2, step-2):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instruction_2 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instruction_2</a:t>
            </a:r>
            <a:endParaRPr lang="en-US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46C082-51F5-3F55-6DFA-A5BDCA8ACBD5}"/>
              </a:ext>
            </a:extLst>
          </p:cNvPr>
          <p:cNvSpPr/>
          <p:nvPr/>
        </p:nvSpPr>
        <p:spPr>
          <a:xfrm>
            <a:off x="7254407" y="1599237"/>
            <a:ext cx="3737114" cy="1401418"/>
          </a:xfrm>
          <a:prstGeom prst="rect">
            <a:avLst/>
          </a:prstGeom>
          <a:solidFill>
            <a:srgbClr val="0000CC">
              <a:alpha val="1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FB6A85-303A-DA1C-9B5D-2633084A229D}"/>
              </a:ext>
            </a:extLst>
          </p:cNvPr>
          <p:cNvSpPr/>
          <p:nvPr/>
        </p:nvSpPr>
        <p:spPr>
          <a:xfrm>
            <a:off x="7291840" y="3982131"/>
            <a:ext cx="3737114" cy="1208420"/>
          </a:xfrm>
          <a:prstGeom prst="rect">
            <a:avLst/>
          </a:prstGeom>
          <a:solidFill>
            <a:srgbClr val="FF0000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0E0F99-B858-FF08-9318-23DC2C1D03C3}"/>
              </a:ext>
            </a:extLst>
          </p:cNvPr>
          <p:cNvSpPr/>
          <p:nvPr/>
        </p:nvSpPr>
        <p:spPr>
          <a:xfrm>
            <a:off x="264192" y="1228055"/>
            <a:ext cx="5949451" cy="3962496"/>
          </a:xfrm>
          <a:prstGeom prst="rect">
            <a:avLst/>
          </a:prstGeom>
          <a:noFill/>
          <a:ln cmpd="thickThin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B8F7BA-794C-6391-B279-82B0180B8206}"/>
              </a:ext>
            </a:extLst>
          </p:cNvPr>
          <p:cNvSpPr/>
          <p:nvPr/>
        </p:nvSpPr>
        <p:spPr>
          <a:xfrm>
            <a:off x="6496318" y="1228055"/>
            <a:ext cx="5015292" cy="4401891"/>
          </a:xfrm>
          <a:prstGeom prst="rect">
            <a:avLst/>
          </a:prstGeom>
          <a:noFill/>
          <a:ln w="44450" cmpd="thinThick">
            <a:solidFill>
              <a:srgbClr val="66003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641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B980F4-F364-E0C0-AEDA-9B21518FE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3D04C40A-26AA-7D0D-51E5-A065DED1641F}"/>
              </a:ext>
            </a:extLst>
          </p:cNvPr>
          <p:cNvSpPr txBox="1">
            <a:spLocks/>
          </p:cNvSpPr>
          <p:nvPr/>
        </p:nvSpPr>
        <p:spPr>
          <a:xfrm>
            <a:off x="359585" y="1189781"/>
            <a:ext cx="5949451" cy="523225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i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range(start-1, stop-1, step-1): 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instruction_1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instruction_2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j in range (start-2, stop-2, step-2):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instruction_2 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instruction_2</a:t>
            </a:r>
            <a:endParaRPr lang="en-US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sz="2400" b="1" u="sng" dirty="0">
              <a:solidFill>
                <a:srgbClr val="7030A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400" b="1" u="sng" dirty="0">
                <a:solidFill>
                  <a:srgbClr val="7030A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Nested for loops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runs one loop inside another loop. Inner loop repeats every time the outer loop runs once.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8BB2FB-3EA7-2DAA-EA7D-6D448D068327}"/>
              </a:ext>
            </a:extLst>
          </p:cNvPr>
          <p:cNvSpPr/>
          <p:nvPr/>
        </p:nvSpPr>
        <p:spPr>
          <a:xfrm>
            <a:off x="1163046" y="1599237"/>
            <a:ext cx="4895521" cy="3038183"/>
          </a:xfrm>
          <a:prstGeom prst="rect">
            <a:avLst/>
          </a:prstGeom>
          <a:solidFill>
            <a:srgbClr val="0000CC">
              <a:alpha val="1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C88354DA-C64E-0BFA-DFA2-C5D0F753D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838" y="157977"/>
            <a:ext cx="9980682" cy="889000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ea typeface="MS Mincho" panose="02020609040205080304" pitchFamily="49" charset="-128"/>
              </a:rPr>
              <a:t>Nested for </a:t>
            </a:r>
            <a:r>
              <a:rPr lang="en-US" sz="36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loops vs Sequential for loops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8F1CC5-CE7B-D5D7-C177-4D52A8809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0438" y="6330760"/>
            <a:ext cx="48195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F54DE5-C571-48E8-A5BC-B369434E2F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>
                    <a:lumMod val="60000"/>
                    <a:lumOff val="40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>
                  <a:lumMod val="60000"/>
                  <a:lumOff val="40000"/>
                </a:srgbClr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026387-C4D9-3B32-EBAE-89D08677E939}"/>
              </a:ext>
            </a:extLst>
          </p:cNvPr>
          <p:cNvSpPr/>
          <p:nvPr/>
        </p:nvSpPr>
        <p:spPr>
          <a:xfrm>
            <a:off x="2247722" y="3375992"/>
            <a:ext cx="3087757" cy="1208420"/>
          </a:xfrm>
          <a:prstGeom prst="rect">
            <a:avLst/>
          </a:prstGeom>
          <a:solidFill>
            <a:srgbClr val="FF0000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13">
            <a:extLst>
              <a:ext uri="{FF2B5EF4-FFF2-40B4-BE49-F238E27FC236}">
                <a16:creationId xmlns:a16="http://schemas.microsoft.com/office/drawing/2014/main" id="{37BAF0FB-F5F2-FFBA-04D8-D133729CBC5D}"/>
              </a:ext>
            </a:extLst>
          </p:cNvPr>
          <p:cNvSpPr txBox="1">
            <a:spLocks/>
          </p:cNvSpPr>
          <p:nvPr/>
        </p:nvSpPr>
        <p:spPr>
          <a:xfrm>
            <a:off x="6690184" y="1281063"/>
            <a:ext cx="5015292" cy="50496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i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range(start-1, stop-1, step-1): 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instruction_1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instruction_2</a:t>
            </a:r>
          </a:p>
          <a:p>
            <a:pPr marL="0" indent="0">
              <a:buNone/>
            </a:pPr>
            <a:endParaRPr lang="en-US" sz="2400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j in range (start-2, stop-2, step-2):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instruction_2 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instruction_2</a:t>
            </a:r>
            <a:endParaRPr lang="en-US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400" u="sng" dirty="0">
                <a:solidFill>
                  <a:srgbClr val="7030A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Sequential for loops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run one after another.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6F97D7-6025-3BF2-B9F7-7E9FE3634623}"/>
              </a:ext>
            </a:extLst>
          </p:cNvPr>
          <p:cNvSpPr/>
          <p:nvPr/>
        </p:nvSpPr>
        <p:spPr>
          <a:xfrm>
            <a:off x="7254406" y="1667449"/>
            <a:ext cx="3737114" cy="1401418"/>
          </a:xfrm>
          <a:prstGeom prst="rect">
            <a:avLst/>
          </a:prstGeom>
          <a:solidFill>
            <a:srgbClr val="0000CC">
              <a:alpha val="1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528CB1-90F7-973F-B34E-DC5A5ACF1D82}"/>
              </a:ext>
            </a:extLst>
          </p:cNvPr>
          <p:cNvSpPr/>
          <p:nvPr/>
        </p:nvSpPr>
        <p:spPr>
          <a:xfrm>
            <a:off x="7291840" y="3982131"/>
            <a:ext cx="3737114" cy="1208420"/>
          </a:xfrm>
          <a:prstGeom prst="rect">
            <a:avLst/>
          </a:prstGeom>
          <a:solidFill>
            <a:srgbClr val="FF0000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E6F9F5-C8FB-D8F1-9948-14401732759A}"/>
              </a:ext>
            </a:extLst>
          </p:cNvPr>
          <p:cNvSpPr/>
          <p:nvPr/>
        </p:nvSpPr>
        <p:spPr>
          <a:xfrm>
            <a:off x="264192" y="1228055"/>
            <a:ext cx="5949451" cy="5414822"/>
          </a:xfrm>
          <a:prstGeom prst="rect">
            <a:avLst/>
          </a:prstGeom>
          <a:noFill/>
          <a:ln cmpd="thickThin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60C3AE-D6BC-737A-FA35-33A64C005243}"/>
              </a:ext>
            </a:extLst>
          </p:cNvPr>
          <p:cNvSpPr/>
          <p:nvPr/>
        </p:nvSpPr>
        <p:spPr>
          <a:xfrm>
            <a:off x="6496318" y="1228055"/>
            <a:ext cx="5015292" cy="5414822"/>
          </a:xfrm>
          <a:prstGeom prst="rect">
            <a:avLst/>
          </a:prstGeom>
          <a:noFill/>
          <a:ln w="44450" cmpd="thinThick">
            <a:solidFill>
              <a:srgbClr val="66003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462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69B00B-B511-B4A4-1ECB-964BA7913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7E9E295-5389-64E8-D513-DD10410F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838" y="157977"/>
            <a:ext cx="9980682" cy="889000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ea typeface="MS Mincho" panose="02020609040205080304" pitchFamily="49" charset="-128"/>
              </a:rPr>
              <a:t>Access Computer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80A045-0007-55CD-C5AD-3316B9E6E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0438" y="6330760"/>
            <a:ext cx="48195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F54DE5-C571-48E8-A5BC-B369434E2F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>
                    <a:lumMod val="60000"/>
                    <a:lumOff val="40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>
                  <a:lumMod val="60000"/>
                  <a:lumOff val="40000"/>
                </a:srgbClr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8FFB029F-A896-00FD-C4E8-D385350B9C62}"/>
              </a:ext>
            </a:extLst>
          </p:cNvPr>
          <p:cNvSpPr txBox="1">
            <a:spLocks/>
          </p:cNvSpPr>
          <p:nvPr/>
        </p:nvSpPr>
        <p:spPr>
          <a:xfrm>
            <a:off x="815662" y="1172333"/>
            <a:ext cx="9746321" cy="55235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💻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to the Computer</a:t>
            </a:r>
          </a:p>
          <a:p>
            <a:pPr marL="914400" lvl="2" indent="0">
              <a:buNone/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Username: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.\guest</a:t>
            </a:r>
            <a:b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Password: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3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Carbondale!</a:t>
            </a:r>
          </a:p>
          <a:p>
            <a:pPr marL="0" indent="0">
              <a:buNone/>
            </a:pPr>
            <a:endParaRPr 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🚀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Launching Python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the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icon in the bottom menu to 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launch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it opens, you are ready to begin coding!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D0F5FDF1-F338-5E68-FE6B-D9E23BF7ACD7}"/>
              </a:ext>
            </a:extLst>
          </p:cNvPr>
          <p:cNvSpPr txBox="1">
            <a:spLocks/>
          </p:cNvSpPr>
          <p:nvPr/>
        </p:nvSpPr>
        <p:spPr>
          <a:xfrm>
            <a:off x="620487" y="1201309"/>
            <a:ext cx="10371033" cy="547576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1026" name="Picture 2" descr="Siks/cbs Datacamp Spark Tutorial ...">
            <a:extLst>
              <a:ext uri="{FF2B5EF4-FFF2-40B4-BE49-F238E27FC236}">
                <a16:creationId xmlns:a16="http://schemas.microsoft.com/office/drawing/2014/main" id="{1E99A8D4-12EE-619D-4947-3389C84AC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2277" y="4203649"/>
            <a:ext cx="1862238" cy="1004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4948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10313</TotalTime>
  <Words>555</Words>
  <Application>Microsoft Office PowerPoint</Application>
  <PresentationFormat>Widescreen</PresentationFormat>
  <Paragraphs>94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Euphemia</vt:lpstr>
      <vt:lpstr>Plantagenet Cherokee</vt:lpstr>
      <vt:lpstr>Times New Roman</vt:lpstr>
      <vt:lpstr>Wingdings</vt:lpstr>
      <vt:lpstr>Academic Literature 16x9</vt:lpstr>
      <vt:lpstr>Summary of Lesson</vt:lpstr>
      <vt:lpstr>Single for loop</vt:lpstr>
      <vt:lpstr>Nested for loops</vt:lpstr>
      <vt:lpstr>Nested for loops vs Sequential for loops</vt:lpstr>
      <vt:lpstr>Nested for loops vs Sequential for loops</vt:lpstr>
      <vt:lpstr>Access Computer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With Picture Layout</dc:title>
  <dc:creator>kumar</dc:creator>
  <cp:lastModifiedBy>Poopalasingam Sivakumar</cp:lastModifiedBy>
  <cp:revision>1133</cp:revision>
  <dcterms:created xsi:type="dcterms:W3CDTF">2014-04-17T22:28:38Z</dcterms:created>
  <dcterms:modified xsi:type="dcterms:W3CDTF">2026-02-18T21:00:21Z</dcterms:modified>
</cp:coreProperties>
</file>